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64" r:id="rId6"/>
    <p:sldId id="261" r:id="rId7"/>
    <p:sldId id="260" r:id="rId8"/>
    <p:sldId id="265" r:id="rId9"/>
    <p:sldId id="258" r:id="rId10"/>
    <p:sldId id="266" r:id="rId11"/>
    <p:sldId id="267" r:id="rId12"/>
    <p:sldId id="263" r:id="rId13"/>
    <p:sldId id="2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5A6AC1-628C-43FA-9DDF-1F9F0E532740}" v="38" dt="2025-02-15T17:39:09.9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4DAA891-330F-A71F-C11B-92C0E6D768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19936BC-BFB5-D3ED-9C5D-1130A8E417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09C3E42-86D4-6C65-F220-12D58B093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A2460-81F2-45DD-8EFB-B49E5113DC82}" type="datetimeFigureOut">
              <a:rPr lang="en-GB" smtClean="0"/>
              <a:t>16/02/2025</a:t>
            </a:fld>
            <a:endParaRPr lang="en-GB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AB345FD-85B1-20F2-6EDA-D11D98A4D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7CBBD37-3B0C-29C2-DB2D-4C50BE0B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2AADF-49C5-475F-9A9E-E21FF69290BC}" type="slidenum">
              <a:rPr lang="en-GB" smtClean="0"/>
              <a:t>‹N›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62208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7AD4701-6322-AA5E-06C6-5E81FC12E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34FF45A-8840-B3C4-D2BD-E1EAA19AD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CD04BE4-9445-34D9-DD3F-7B803E7B5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A2460-81F2-45DD-8EFB-B49E5113DC82}" type="datetimeFigureOut">
              <a:rPr lang="en-GB" smtClean="0"/>
              <a:t>16/02/2025</a:t>
            </a:fld>
            <a:endParaRPr lang="en-GB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D3914FA-5A8C-5753-EBE9-F511F1765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C5EAAFA-8359-3518-F018-5B741CE89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2AADF-49C5-475F-9A9E-E21FF69290BC}" type="slidenum">
              <a:rPr lang="en-GB" smtClean="0"/>
              <a:t>‹N›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05433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49B6A1E-6992-E053-4D6F-4D7DD432E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BE57DF2-9F74-DBEE-769A-7348DD9BA1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DA8CF3F-A7F0-40D1-0D9E-F5AD46376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A2460-81F2-45DD-8EFB-B49E5113DC82}" type="datetimeFigureOut">
              <a:rPr lang="en-GB" smtClean="0"/>
              <a:t>16/02/2025</a:t>
            </a:fld>
            <a:endParaRPr lang="en-GB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B768A24-9589-7474-7F51-EDA9491FB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0EBC7E9-2226-E371-9267-26CB9C9CA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2AADF-49C5-475F-9A9E-E21FF69290BC}" type="slidenum">
              <a:rPr lang="en-GB" smtClean="0"/>
              <a:t>‹N›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3550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1EF17B1-E713-F44B-0321-55BECA48C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CECF53C-1C91-9FC8-BC9A-0139F8ACE6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9EA2395-F419-EE0D-65E6-8FDF81EB49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DC1B976-AD5C-AC02-9C03-1423DF09C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A2460-81F2-45DD-8EFB-B49E5113DC82}" type="datetimeFigureOut">
              <a:rPr lang="en-GB" smtClean="0"/>
              <a:t>16/02/2025</a:t>
            </a:fld>
            <a:endParaRPr lang="en-GB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C2ED1E2-40CD-2585-FA97-4708AB4F0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CB58CED-2B04-8864-A1BC-E6C168373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2AADF-49C5-475F-9A9E-E21FF69290BC}" type="slidenum">
              <a:rPr lang="en-GB" smtClean="0"/>
              <a:t>‹N›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70447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A50C2F7-4949-5F03-0F2B-317A66921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566DB5D-3B2D-A107-F85B-F1F527011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6468960-E096-BC8A-08BF-14C726341F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19A3D958-7C97-1E6C-4270-A22730F685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1346EE9-FFBE-E48A-4033-E599DCFAB6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2698004-4641-A49B-4F50-965C7D686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A2460-81F2-45DD-8EFB-B49E5113DC82}" type="datetimeFigureOut">
              <a:rPr lang="en-GB" smtClean="0"/>
              <a:t>16/02/2025</a:t>
            </a:fld>
            <a:endParaRPr lang="en-GB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7299785B-AB91-5B5B-27C2-5AC7B7F2F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D6ABFAF6-533F-F8D0-EA3E-25E766CB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2AADF-49C5-475F-9A9E-E21FF69290BC}" type="slidenum">
              <a:rPr lang="en-GB" smtClean="0"/>
              <a:t>‹N›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6111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BF94225-1EF7-31D0-B13E-960800CFE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C59AD5B-725C-5057-5192-589D48033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A2460-81F2-45DD-8EFB-B49E5113DC82}" type="datetimeFigureOut">
              <a:rPr lang="en-GB" smtClean="0"/>
              <a:t>16/02/2025</a:t>
            </a:fld>
            <a:endParaRPr lang="en-GB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D217B2-355C-437D-542D-A7F45659E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25C2309-2CBD-395B-9C02-E5FD9DEEF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2AADF-49C5-475F-9A9E-E21FF69290BC}" type="slidenum">
              <a:rPr lang="en-GB" smtClean="0"/>
              <a:t>‹N›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19057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011D1A5B-903F-1157-7FF7-32B5095F5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A2460-81F2-45DD-8EFB-B49E5113DC82}" type="datetimeFigureOut">
              <a:rPr lang="en-GB" smtClean="0"/>
              <a:t>16/02/2025</a:t>
            </a:fld>
            <a:endParaRPr lang="en-GB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3F9DF71-3D1C-02CE-9C28-993C2B349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2167A8E-7CB9-E072-80D5-B6D1AE31C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2AADF-49C5-475F-9A9E-E21FF69290BC}" type="slidenum">
              <a:rPr lang="en-GB" smtClean="0"/>
              <a:t>‹N›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8489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3F4A5B-EDAB-2B7E-BD05-83EA79D76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B9D5503-8629-84AE-CB65-054A2AA3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F2129E1-A5E7-5822-86CD-6FAE1913E7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D79B151-4697-3DC0-84A3-167F255A3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A2460-81F2-45DD-8EFB-B49E5113DC82}" type="datetimeFigureOut">
              <a:rPr lang="en-GB" smtClean="0"/>
              <a:t>16/02/2025</a:t>
            </a:fld>
            <a:endParaRPr lang="en-GB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5357BED-47D6-C758-0097-4F751006C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747C7D7-C0C1-5646-C2D2-CF613E447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2AADF-49C5-475F-9A9E-E21FF69290BC}" type="slidenum">
              <a:rPr lang="en-GB" smtClean="0"/>
              <a:t>‹N›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2521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39816D4-129F-DDCD-28B7-D688C921A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97774418-0EB1-57CB-9662-F81000543D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2D19F40-D01D-9FD7-1A2A-E849235477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142869F-13E0-8EE8-812D-8883A6E8C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A2460-81F2-45DD-8EFB-B49E5113DC82}" type="datetimeFigureOut">
              <a:rPr lang="en-GB" smtClean="0"/>
              <a:t>16/02/2025</a:t>
            </a:fld>
            <a:endParaRPr lang="en-GB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6A47CBD-B207-BB30-FDDA-A0AA08122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16A00D4-CCDB-EF4A-763A-294D3154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2AADF-49C5-475F-9A9E-E21FF69290BC}" type="slidenum">
              <a:rPr lang="en-GB" smtClean="0"/>
              <a:t>‹N›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6862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F49E166-A4CF-5347-DA95-90D8CFEF6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0248DDF-D12C-B132-6581-7C487B64D2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09449B7-D929-0EFA-DAF3-EC57DBEFE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A2460-81F2-45DD-8EFB-B49E5113DC82}" type="datetimeFigureOut">
              <a:rPr lang="en-GB" smtClean="0"/>
              <a:t>16/02/2025</a:t>
            </a:fld>
            <a:endParaRPr lang="en-GB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B99E37D-6D7A-D74F-CC9B-18B08A495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1584B54-C5E4-6FDC-A8D7-4D98A4C51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2AADF-49C5-475F-9A9E-E21FF69290BC}" type="slidenum">
              <a:rPr lang="en-GB" smtClean="0"/>
              <a:t>‹N›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64413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7173EA09-AC00-0508-152A-2A89106963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D1EBD63-9BE4-BDC1-99FA-5F04EB0D15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2E5FA8E-CD4C-E5C0-1459-993F6C7B0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A2460-81F2-45DD-8EFB-B49E5113DC82}" type="datetimeFigureOut">
              <a:rPr lang="en-GB" smtClean="0"/>
              <a:t>16/02/2025</a:t>
            </a:fld>
            <a:endParaRPr lang="en-GB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318B578-68E1-563C-C20E-CDCFDAA02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94E0757-C885-71C3-BB18-ADE69B5A1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2AADF-49C5-475F-9A9E-E21FF69290BC}" type="slidenum">
              <a:rPr lang="en-GB" smtClean="0"/>
              <a:t>‹N›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2983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3B7B20F9-0E8D-AB10-0B7D-612212D62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C7B50AA-8FB5-9751-400D-87F717B98E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0A03039-2023-C0DD-81D7-74BED4FD3D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2A2460-81F2-45DD-8EFB-B49E5113DC82}" type="datetimeFigureOut">
              <a:rPr lang="en-GB" smtClean="0"/>
              <a:t>16/02/2025</a:t>
            </a:fld>
            <a:endParaRPr lang="en-GB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9EB5D0A-AB34-9E5F-7808-BA2DA3B099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92EB227-B530-FF6E-1120-59281F1433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B2AADF-49C5-475F-9A9E-E21FF69290BC}" type="slidenum">
              <a:rPr lang="en-GB" smtClean="0"/>
              <a:t>‹N›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9507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CF72F19-1473-448C-AA14-0CB8AA374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0EC0ACA-1224-A3A6-EA3E-FBCD3F94DF48}"/>
              </a:ext>
            </a:extLst>
          </p:cNvPr>
          <p:cNvSpPr txBox="1"/>
          <p:nvPr/>
        </p:nvSpPr>
        <p:spPr>
          <a:xfrm>
            <a:off x="686777" y="557360"/>
            <a:ext cx="4340382" cy="12947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 dirty="0">
                <a:latin typeface="+mj-lt"/>
                <a:ea typeface="+mj-ea"/>
                <a:cs typeface="+mj-cs"/>
              </a:rPr>
              <a:t>UNIVERSE 25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37BA1BDF-104A-E54C-F0ED-BE761348D242}"/>
              </a:ext>
            </a:extLst>
          </p:cNvPr>
          <p:cNvSpPr txBox="1"/>
          <p:nvPr/>
        </p:nvSpPr>
        <p:spPr>
          <a:xfrm>
            <a:off x="730455" y="2785042"/>
            <a:ext cx="3977761" cy="15289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2200" dirty="0"/>
              <a:t>An agent-based simulation of population stress dynamics using </a:t>
            </a:r>
            <a:r>
              <a:rPr lang="en-US" sz="2200" dirty="0" err="1"/>
              <a:t>NetLogo</a:t>
            </a:r>
            <a:endParaRPr lang="en-US" sz="2200" dirty="0"/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endParaRPr lang="en-US" sz="2200" dirty="0"/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endParaRPr lang="en-US" sz="22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B91AF9E0-E615-F7C3-545C-452FBF63E6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10"/>
          <a:stretch/>
        </p:blipFill>
        <p:spPr>
          <a:xfrm>
            <a:off x="5640572" y="557360"/>
            <a:ext cx="5608830" cy="563270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EEC589C8-C966-CEE5-2C70-336BFADD47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3053" y="5532120"/>
            <a:ext cx="1023915" cy="1023915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894D06C7-E153-263B-A29F-A4A1BC480EA3}"/>
              </a:ext>
            </a:extLst>
          </p:cNvPr>
          <p:cNvSpPr txBox="1"/>
          <p:nvPr/>
        </p:nvSpPr>
        <p:spPr>
          <a:xfrm>
            <a:off x="7435703" y="6499072"/>
            <a:ext cx="4756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Lamberti Francesco </a:t>
            </a:r>
            <a:r>
              <a:rPr lang="it-IT" dirty="0" err="1"/>
              <a:t>Matr</a:t>
            </a:r>
            <a:r>
              <a:rPr lang="it-IT" dirty="0"/>
              <a:t>. 196534, Distributed AI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4031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0CE981-B310-F0F8-66DB-528AA5D2E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0EE6B30-34E8-F24B-746C-C6F34A3E8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5DB2824-0BDD-5506-F6D8-2A1F4F42DD0C}"/>
              </a:ext>
            </a:extLst>
          </p:cNvPr>
          <p:cNvSpPr txBox="1"/>
          <p:nvPr/>
        </p:nvSpPr>
        <p:spPr>
          <a:xfrm>
            <a:off x="589560" y="856180"/>
            <a:ext cx="4560584" cy="11280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dirty="0">
                <a:latin typeface="+mj-lt"/>
                <a:ea typeface="+mj-ea"/>
                <a:cs typeface="+mj-cs"/>
              </a:rPr>
              <a:t>How The System Works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1CD279C-B364-7BA7-BB47-F4B71E9C7A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BC9F97D-C161-08F3-3D96-FAEA6C5D13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CADF272-6626-497C-5FCC-3A9055B178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73598641-BFF2-17EE-BC5A-0785B447A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9F4B185-4B1C-5A0E-2644-F917A2661080}"/>
              </a:ext>
            </a:extLst>
          </p:cNvPr>
          <p:cNvSpPr txBox="1"/>
          <p:nvPr/>
        </p:nvSpPr>
        <p:spPr>
          <a:xfrm>
            <a:off x="590719" y="2325757"/>
            <a:ext cx="4559425" cy="3732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We start from a system that has no food or water issues, every problem is caused by the subjects living in the environment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7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Each mouse updates his age every tick, when a mouse gets age of 100 dies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Mice move randomly in the environment, if a male encounters a female, based on their stress level they can reproduce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7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Reproduction resets the stress level and pregnancy lasts for 20 ticks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755636-9024-C5A1-E648-9062FD4B7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A8343F-8387-CC15-F6AF-6D5AE8338C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B48814D5-49DC-D133-6A3E-D16444DC81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3271"/>
          <a:stretch/>
        </p:blipFill>
        <p:spPr>
          <a:xfrm>
            <a:off x="5977788" y="799352"/>
            <a:ext cx="5425410" cy="525929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719424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14D65CC-956F-A13A-87AA-3F8713C3295E}"/>
              </a:ext>
            </a:extLst>
          </p:cNvPr>
          <p:cNvSpPr txBox="1"/>
          <p:nvPr/>
        </p:nvSpPr>
        <p:spPr>
          <a:xfrm>
            <a:off x="590719" y="2224322"/>
            <a:ext cx="4559425" cy="39795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Males are blue, females are pink and pups are green, a pup remains green for 10 ticks, after that, it becomes adult and switch his color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Each mouse updates his stress by counting the mice above them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If stress becomes too high a mouse can become insane and start attacking </a:t>
            </a:r>
            <a:r>
              <a:rPr lang="en-US" sz="1700" dirty="0" err="1"/>
              <a:t>othes</a:t>
            </a:r>
            <a:endParaRPr lang="en-US" sz="17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7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Insane mice are red and move faster, but die earlier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7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719C05E5-85C3-A9FB-5B65-FAEB689274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3271"/>
          <a:stretch/>
        </p:blipFill>
        <p:spPr>
          <a:xfrm>
            <a:off x="5977788" y="799352"/>
            <a:ext cx="5425410" cy="525929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C657B622-E355-1815-0D4A-7D3A3C522F72}"/>
              </a:ext>
            </a:extLst>
          </p:cNvPr>
          <p:cNvSpPr txBox="1"/>
          <p:nvPr/>
        </p:nvSpPr>
        <p:spPr>
          <a:xfrm>
            <a:off x="589560" y="856180"/>
            <a:ext cx="4560584" cy="11280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dirty="0">
                <a:latin typeface="+mj-lt"/>
                <a:ea typeface="+mj-ea"/>
                <a:cs typeface="+mj-cs"/>
              </a:rPr>
              <a:t>How The System Works</a:t>
            </a:r>
          </a:p>
        </p:txBody>
      </p:sp>
    </p:spTree>
    <p:extLst>
      <p:ext uri="{BB962C8B-B14F-4D97-AF65-F5344CB8AC3E}">
        <p14:creationId xmlns:p14="http://schemas.microsoft.com/office/powerpoint/2010/main" val="1396190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2">
            <a:extLst>
              <a:ext uri="{FF2B5EF4-FFF2-40B4-BE49-F238E27FC236}">
                <a16:creationId xmlns:a16="http://schemas.microsoft.com/office/drawing/2014/main" id="{6112B4A7-3559-4D03-BE94-7DA52DBD6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4">
            <a:extLst>
              <a:ext uri="{FF2B5EF4-FFF2-40B4-BE49-F238E27FC236}">
                <a16:creationId xmlns:a16="http://schemas.microsoft.com/office/drawing/2014/main" id="{90464369-70FA-42AF-948F-80664CA7B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146816"/>
          </a:xfrm>
          <a:prstGeom prst="rect">
            <a:avLst/>
          </a:prstGeom>
          <a:solidFill>
            <a:schemeClr val="bg1">
              <a:lumMod val="85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356A5F2F-4F05-8685-A902-44A7CBE16CF6}"/>
              </a:ext>
            </a:extLst>
          </p:cNvPr>
          <p:cNvSpPr txBox="1"/>
          <p:nvPr/>
        </p:nvSpPr>
        <p:spPr>
          <a:xfrm>
            <a:off x="4485683" y="349664"/>
            <a:ext cx="7124671" cy="163837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dirty="0">
                <a:latin typeface="+mj-lt"/>
                <a:ea typeface="+mj-ea"/>
                <a:cs typeface="+mj-cs"/>
              </a:rPr>
              <a:t>Simulation Parameters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648176E-454C-437C-B0FC-9B82FCF32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03361" y="6131892"/>
            <a:ext cx="524256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6604B49-AD5C-4590-B051-06C8222E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998176" y="277912"/>
            <a:ext cx="524256" cy="1186339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C552A98-EF7D-4D42-AB69-066B786AB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9185" y="252538"/>
            <a:ext cx="3494670" cy="635292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309B1FD5-5DB7-F275-C5B6-91AD57199B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917" y="710877"/>
            <a:ext cx="2487618" cy="847633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AC0EBADA-63F6-0F22-DC74-2A9590ABB5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917" y="2221160"/>
            <a:ext cx="2487618" cy="767989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5A5B9F2A-6C66-B81E-5B42-49CEA6E20A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648" y="3863684"/>
            <a:ext cx="3005162" cy="633374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4A852AF9-F5ED-B8D6-BE65-35CFD27AC2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648" y="5422661"/>
            <a:ext cx="3005162" cy="614692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10046F71-CE1D-AD61-211A-93A7E1AB0F2E}"/>
              </a:ext>
            </a:extLst>
          </p:cNvPr>
          <p:cNvSpPr txBox="1"/>
          <p:nvPr/>
        </p:nvSpPr>
        <p:spPr>
          <a:xfrm>
            <a:off x="4488873" y="2620641"/>
            <a:ext cx="7115139" cy="302370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Stress coefficient: Determines how quickly mice develop stress                                       from overcrowding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Revenge mechanism: Allows attacked mice to fight back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Trauma level: Measures psychological impact after attacks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Recovery possibility: Determines if insane mice can return to normal state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Adjusting these parameters brings different scenarios</a:t>
            </a:r>
          </a:p>
        </p:txBody>
      </p:sp>
    </p:spTree>
    <p:extLst>
      <p:ext uri="{BB962C8B-B14F-4D97-AF65-F5344CB8AC3E}">
        <p14:creationId xmlns:p14="http://schemas.microsoft.com/office/powerpoint/2010/main" val="312332147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35D25E08-22B2-CE23-2ED9-0254D451E55A}"/>
              </a:ext>
            </a:extLst>
          </p:cNvPr>
          <p:cNvSpPr txBox="1"/>
          <p:nvPr/>
        </p:nvSpPr>
        <p:spPr>
          <a:xfrm>
            <a:off x="298175" y="146448"/>
            <a:ext cx="608937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800" dirty="0" err="1"/>
              <a:t>Simulation</a:t>
            </a:r>
            <a:r>
              <a:rPr lang="it-IT" sz="4800" dirty="0"/>
              <a:t> </a:t>
            </a:r>
            <a:r>
              <a:rPr lang="it-IT" sz="4800" dirty="0" err="1"/>
              <a:t>Parameters</a:t>
            </a:r>
            <a:r>
              <a:rPr lang="it-IT" sz="4800" dirty="0"/>
              <a:t> in Depth</a:t>
            </a:r>
            <a:endParaRPr lang="en-GB" sz="4800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A78FB7C-3D4E-F3E8-93AB-AE1C53893DBC}"/>
              </a:ext>
            </a:extLst>
          </p:cNvPr>
          <p:cNvSpPr txBox="1"/>
          <p:nvPr/>
        </p:nvSpPr>
        <p:spPr>
          <a:xfrm>
            <a:off x="357885" y="1939594"/>
            <a:ext cx="5403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Stress </a:t>
            </a:r>
            <a:r>
              <a:rPr lang="it-IT" dirty="0" err="1"/>
              <a:t>level</a:t>
            </a:r>
            <a:r>
              <a:rPr lang="it-IT" dirty="0"/>
              <a:t> </a:t>
            </a:r>
            <a:r>
              <a:rPr lang="it-IT" dirty="0" err="1"/>
              <a:t>determines</a:t>
            </a:r>
            <a:r>
              <a:rPr lang="it-IT" dirty="0"/>
              <a:t> the maximum </a:t>
            </a:r>
            <a:r>
              <a:rPr lang="it-IT" dirty="0" err="1"/>
              <a:t>population</a:t>
            </a:r>
            <a:r>
              <a:rPr lang="it-IT" dirty="0"/>
              <a:t> size</a:t>
            </a:r>
            <a:endParaRPr lang="en-GB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8A9A427-3592-AFAA-1EAB-31536F26B3EA}"/>
              </a:ext>
            </a:extLst>
          </p:cNvPr>
          <p:cNvSpPr txBox="1"/>
          <p:nvPr/>
        </p:nvSpPr>
        <p:spPr>
          <a:xfrm>
            <a:off x="5989982" y="2853965"/>
            <a:ext cx="52213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Trauma </a:t>
            </a:r>
            <a:r>
              <a:rPr lang="it-IT" dirty="0" err="1"/>
              <a:t>level</a:t>
            </a:r>
            <a:r>
              <a:rPr lang="it-IT" dirty="0"/>
              <a:t> </a:t>
            </a:r>
            <a:r>
              <a:rPr lang="it-IT" dirty="0" err="1"/>
              <a:t>determines</a:t>
            </a:r>
            <a:r>
              <a:rPr lang="it-IT" dirty="0"/>
              <a:t> the minimum </a:t>
            </a:r>
            <a:r>
              <a:rPr lang="it-IT" dirty="0" err="1"/>
              <a:t>population</a:t>
            </a:r>
            <a:r>
              <a:rPr lang="it-IT" dirty="0"/>
              <a:t> size in </a:t>
            </a:r>
            <a:r>
              <a:rPr lang="it-IT" dirty="0" err="1"/>
              <a:t>critical</a:t>
            </a:r>
            <a:r>
              <a:rPr lang="it-IT" dirty="0"/>
              <a:t> </a:t>
            </a:r>
            <a:r>
              <a:rPr lang="it-IT" dirty="0" err="1"/>
              <a:t>conditions</a:t>
            </a:r>
            <a:endParaRPr lang="en-GB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DC33027-D412-B666-6AD3-995A621B5320}"/>
              </a:ext>
            </a:extLst>
          </p:cNvPr>
          <p:cNvSpPr txBox="1"/>
          <p:nvPr/>
        </p:nvSpPr>
        <p:spPr>
          <a:xfrm>
            <a:off x="1018421" y="4166791"/>
            <a:ext cx="39093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Recovery helps to </a:t>
            </a:r>
            <a:r>
              <a:rPr lang="it-IT" dirty="0" err="1"/>
              <a:t>increase</a:t>
            </a:r>
            <a:r>
              <a:rPr lang="it-IT" dirty="0"/>
              <a:t> the minimum </a:t>
            </a:r>
            <a:r>
              <a:rPr lang="it-IT" dirty="0" err="1"/>
              <a:t>population</a:t>
            </a:r>
            <a:r>
              <a:rPr lang="it-IT" dirty="0"/>
              <a:t> </a:t>
            </a:r>
            <a:r>
              <a:rPr lang="it-IT" dirty="0" err="1"/>
              <a:t>level</a:t>
            </a:r>
            <a:endParaRPr lang="en-GB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690D919-9D5C-5C42-8750-E1FA4D9DDFB3}"/>
              </a:ext>
            </a:extLst>
          </p:cNvPr>
          <p:cNvSpPr txBox="1"/>
          <p:nvPr/>
        </p:nvSpPr>
        <p:spPr>
          <a:xfrm>
            <a:off x="6377505" y="5721568"/>
            <a:ext cx="35449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Revenge </a:t>
            </a:r>
            <a:r>
              <a:rPr lang="it-IT" dirty="0" err="1"/>
              <a:t>provides</a:t>
            </a:r>
            <a:r>
              <a:rPr lang="it-IT" dirty="0"/>
              <a:t> </a:t>
            </a:r>
            <a:r>
              <a:rPr lang="it-IT" dirty="0" err="1"/>
              <a:t>stability</a:t>
            </a:r>
            <a:r>
              <a:rPr lang="it-IT" dirty="0"/>
              <a:t> to </a:t>
            </a:r>
            <a:r>
              <a:rPr lang="it-IT" dirty="0" err="1"/>
              <a:t>population</a:t>
            </a:r>
            <a:endParaRPr lang="en-GB" dirty="0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622E9F8E-CB43-7939-73A8-61EB70B82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1909" y="430466"/>
            <a:ext cx="4848225" cy="1428750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BB81EC6E-CD3B-5C8A-7D5A-DF361C2DAD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265" y="2522313"/>
            <a:ext cx="4444031" cy="1309636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D972FA33-4B99-06A1-58F3-E4F86AECE1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982" y="3831949"/>
            <a:ext cx="4848225" cy="1428750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633C19AC-CB69-D97C-E5FF-1903C5E878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20" y="5153025"/>
            <a:ext cx="4848225" cy="1428750"/>
          </a:xfrm>
          <a:prstGeom prst="rect">
            <a:avLst/>
          </a:prstGeom>
        </p:spPr>
      </p:pic>
      <p:sp>
        <p:nvSpPr>
          <p:cNvPr id="17" name="Rettangolo 16">
            <a:extLst>
              <a:ext uri="{FF2B5EF4-FFF2-40B4-BE49-F238E27FC236}">
                <a16:creationId xmlns:a16="http://schemas.microsoft.com/office/drawing/2014/main" id="{ABD458C8-5356-CF07-0523-A1F3A2E44D40}"/>
              </a:ext>
            </a:extLst>
          </p:cNvPr>
          <p:cNvSpPr/>
          <p:nvPr/>
        </p:nvSpPr>
        <p:spPr>
          <a:xfrm rot="2570165">
            <a:off x="11387080" y="5493546"/>
            <a:ext cx="1038825" cy="2086722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365BC143-6B05-CABE-5E69-6A38F7AE6ADB}"/>
              </a:ext>
            </a:extLst>
          </p:cNvPr>
          <p:cNvSpPr/>
          <p:nvPr/>
        </p:nvSpPr>
        <p:spPr>
          <a:xfrm rot="2790548">
            <a:off x="11250285" y="-181063"/>
            <a:ext cx="1617258" cy="777497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02D50CAB-FD67-0E21-8D1C-B16A94BF653D}"/>
              </a:ext>
            </a:extLst>
          </p:cNvPr>
          <p:cNvSpPr/>
          <p:nvPr/>
        </p:nvSpPr>
        <p:spPr>
          <a:xfrm rot="5400000">
            <a:off x="-650570" y="695184"/>
            <a:ext cx="1285642" cy="472185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Freccia a destra 27">
            <a:extLst>
              <a:ext uri="{FF2B5EF4-FFF2-40B4-BE49-F238E27FC236}">
                <a16:creationId xmlns:a16="http://schemas.microsoft.com/office/drawing/2014/main" id="{289F2F27-76F5-35B3-6435-3DA91BD87125}"/>
              </a:ext>
            </a:extLst>
          </p:cNvPr>
          <p:cNvSpPr/>
          <p:nvPr/>
        </p:nvSpPr>
        <p:spPr>
          <a:xfrm rot="20425872">
            <a:off x="5133912" y="1371465"/>
            <a:ext cx="3757801" cy="54518"/>
          </a:xfrm>
          <a:prstGeom prst="rightArrow">
            <a:avLst>
              <a:gd name="adj1" fmla="val 50000"/>
              <a:gd name="adj2" fmla="val 118922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Freccia a destra 28">
            <a:extLst>
              <a:ext uri="{FF2B5EF4-FFF2-40B4-BE49-F238E27FC236}">
                <a16:creationId xmlns:a16="http://schemas.microsoft.com/office/drawing/2014/main" id="{39EC9C37-434F-C41B-25DE-852916C0EB3F}"/>
              </a:ext>
            </a:extLst>
          </p:cNvPr>
          <p:cNvSpPr/>
          <p:nvPr/>
        </p:nvSpPr>
        <p:spPr>
          <a:xfrm rot="21223057" flipH="1" flipV="1">
            <a:off x="2427918" y="3375723"/>
            <a:ext cx="3574369" cy="55835"/>
          </a:xfrm>
          <a:prstGeom prst="rightArrow">
            <a:avLst>
              <a:gd name="adj1" fmla="val 50000"/>
              <a:gd name="adj2" fmla="val 155505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Freccia a destra 29">
            <a:extLst>
              <a:ext uri="{FF2B5EF4-FFF2-40B4-BE49-F238E27FC236}">
                <a16:creationId xmlns:a16="http://schemas.microsoft.com/office/drawing/2014/main" id="{DCD5949E-CD16-16D9-B032-7CAC3708AF5A}"/>
              </a:ext>
            </a:extLst>
          </p:cNvPr>
          <p:cNvSpPr/>
          <p:nvPr/>
        </p:nvSpPr>
        <p:spPr>
          <a:xfrm rot="243628" flipV="1">
            <a:off x="4105555" y="4640551"/>
            <a:ext cx="3925826" cy="60762"/>
          </a:xfrm>
          <a:prstGeom prst="rightArrow">
            <a:avLst>
              <a:gd name="adj1" fmla="val 50000"/>
              <a:gd name="adj2" fmla="val 138673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Freccia a destra 30">
            <a:extLst>
              <a:ext uri="{FF2B5EF4-FFF2-40B4-BE49-F238E27FC236}">
                <a16:creationId xmlns:a16="http://schemas.microsoft.com/office/drawing/2014/main" id="{873B1D74-B986-65D7-A1B1-7381982958D0}"/>
              </a:ext>
            </a:extLst>
          </p:cNvPr>
          <p:cNvSpPr/>
          <p:nvPr/>
        </p:nvSpPr>
        <p:spPr>
          <a:xfrm rot="11833526">
            <a:off x="4820220" y="5756959"/>
            <a:ext cx="1655754" cy="47659"/>
          </a:xfrm>
          <a:prstGeom prst="rightArrow">
            <a:avLst>
              <a:gd name="adj1" fmla="val 50000"/>
              <a:gd name="adj2" fmla="val 143996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2465005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3D7C5191-B39B-C9D9-9491-E5016D84F107}"/>
              </a:ext>
            </a:extLst>
          </p:cNvPr>
          <p:cNvSpPr txBox="1"/>
          <p:nvPr/>
        </p:nvSpPr>
        <p:spPr>
          <a:xfrm>
            <a:off x="638881" y="417576"/>
            <a:ext cx="10909640" cy="12493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Social Collapse Due to Stress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C80B114-5E9C-F4E2-0747-BF3CA7566AA6}"/>
              </a:ext>
            </a:extLst>
          </p:cNvPr>
          <p:cNvSpPr txBox="1"/>
          <p:nvPr/>
        </p:nvSpPr>
        <p:spPr>
          <a:xfrm>
            <a:off x="636582" y="2430693"/>
            <a:ext cx="5457119" cy="17894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no revenge mechanism, no recover possibility and a medium-high trauma level the simulation ends with all mice dying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700" dirty="0"/>
              <a:t>This occurs due to the uncontrolled amount of insane mice that cannot recover, plus the inability of the attacked mice to do anything</a:t>
            </a:r>
            <a:endParaRPr lang="en-US" sz="17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0E92B292-E886-EF1C-A4D3-BAF10FFA7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1409" y="4578029"/>
            <a:ext cx="5171851" cy="1524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895877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EDEBCC-BD7C-BAEC-24F1-4CB58154B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F60F888-7948-9130-E779-19079ECAEC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EE0C530-3887-5D8E-9E9C-6225E0FB6CB7}"/>
              </a:ext>
            </a:extLst>
          </p:cNvPr>
          <p:cNvSpPr txBox="1"/>
          <p:nvPr/>
        </p:nvSpPr>
        <p:spPr>
          <a:xfrm>
            <a:off x="638881" y="417576"/>
            <a:ext cx="10909640" cy="12493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Cyclical Population Patterns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310ED568-CF54-D3F0-726E-B68F44C94829}"/>
              </a:ext>
            </a:extLst>
          </p:cNvPr>
          <p:cNvSpPr txBox="1"/>
          <p:nvPr/>
        </p:nvSpPr>
        <p:spPr>
          <a:xfrm>
            <a:off x="638881" y="2471169"/>
            <a:ext cx="5457119" cy="17777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700" dirty="0"/>
              <a:t>By b</a:t>
            </a: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alancing the trauma level and adding the possibility for insane mice to return to normal state we can see a harmonic trend of the system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Periods of high population levels lead to critical level of stress causing many mice to die, which then lowers stress levels and returns the system to prosperity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94AD5AA1-1111-A680-9C8E-2D10398EA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1FCF87F9-CF7E-B6E9-0960-5EE65F8EC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1409" y="4578029"/>
            <a:ext cx="5171851" cy="1524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809943"/>
      </p:ext>
    </p:extLst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1753A5-D230-E28F-6CB8-4676FCED5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DB03A80-3A81-DA84-E894-7BA797F21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B82048DB-8E5F-94F1-4C46-E39B67F8ACD4}"/>
              </a:ext>
            </a:extLst>
          </p:cNvPr>
          <p:cNvSpPr txBox="1"/>
          <p:nvPr/>
        </p:nvSpPr>
        <p:spPr>
          <a:xfrm>
            <a:off x="638881" y="417576"/>
            <a:ext cx="10909640" cy="12493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Balanced Population Dynamics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AD81B9C-4026-A19D-FDD6-3E7C141B67B2}"/>
              </a:ext>
            </a:extLst>
          </p:cNvPr>
          <p:cNvSpPr txBox="1"/>
          <p:nvPr/>
        </p:nvSpPr>
        <p:spPr>
          <a:xfrm>
            <a:off x="638881" y="2280659"/>
            <a:ext cx="5457119" cy="19467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Giving mice the ability to repel attacks from insane mice is crucial for maintaining a stable population system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700" dirty="0"/>
              <a:t>In this scenario we observe that insane mice often get killed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Reducing trauma level is also important for the system’s prosperity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680CB6CF-1E85-4DE2-EF8E-646605A69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2CF3841F-A836-F2A2-A700-CCDF6C0CE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1409" y="4577340"/>
            <a:ext cx="5171851" cy="1524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958174"/>
      </p:ext>
    </p:extLst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ECA6DCB-B7E1-40A9-9524-540C6DA40B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6785EE4-2E98-1E31-002B-429238C69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</a:t>
            </a:r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Real Experiment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72B6B7A-5E66-84BF-C82F-30A273010EF1}"/>
              </a:ext>
            </a:extLst>
          </p:cNvPr>
          <p:cNvSpPr txBox="1"/>
          <p:nvPr/>
        </p:nvSpPr>
        <p:spPr>
          <a:xfrm>
            <a:off x="590902" y="2784162"/>
            <a:ext cx="5278066" cy="2543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We have analyzed different type of stress handling, in the real Universe 25 experiment, unfortunately all mice died, despite resources being constantly available for every mouse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magine 6" descr="Immagine che contiene testo, diagramma, linea, Carattere">
            <a:extLst>
              <a:ext uri="{FF2B5EF4-FFF2-40B4-BE49-F238E27FC236}">
                <a16:creationId xmlns:a16="http://schemas.microsoft.com/office/drawing/2014/main" id="{6A50AC86-90D0-CE75-0B05-B5C1394397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55" r="4" b="4501"/>
          <a:stretch/>
        </p:blipFill>
        <p:spPr>
          <a:xfrm>
            <a:off x="7083423" y="581892"/>
            <a:ext cx="4397433" cy="2518756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Immagine 9" descr="Immagine che contiene testo, diagramma, schermata, linea">
            <a:extLst>
              <a:ext uri="{FF2B5EF4-FFF2-40B4-BE49-F238E27FC236}">
                <a16:creationId xmlns:a16="http://schemas.microsoft.com/office/drawing/2014/main" id="{C0B883AF-A8A9-4AA7-84F3-6263AE5A00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5" t="-19" r="36" b="15670"/>
          <a:stretch/>
        </p:blipFill>
        <p:spPr>
          <a:xfrm>
            <a:off x="7085287" y="3609304"/>
            <a:ext cx="4395569" cy="2715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130932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B2694D2-D207-8220-1645-DB55780B8E35}"/>
              </a:ext>
            </a:extLst>
          </p:cNvPr>
          <p:cNvSpPr txBox="1"/>
          <p:nvPr/>
        </p:nvSpPr>
        <p:spPr>
          <a:xfrm>
            <a:off x="1524000" y="1293338"/>
            <a:ext cx="9144000" cy="32745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 for your attention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4251059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B440429B965724A9EB1CE765460F7AA" ma:contentTypeVersion="7" ma:contentTypeDescription="Creare un nuovo documento." ma:contentTypeScope="" ma:versionID="4de9e11ba155358e6db32fad5bd34a38">
  <xsd:schema xmlns:xsd="http://www.w3.org/2001/XMLSchema" xmlns:xs="http://www.w3.org/2001/XMLSchema" xmlns:p="http://schemas.microsoft.com/office/2006/metadata/properties" xmlns:ns3="3b37457d-1d72-413e-888b-ffe254ec3ec6" targetNamespace="http://schemas.microsoft.com/office/2006/metadata/properties" ma:root="true" ma:fieldsID="f757cbd10bde78eecb478cd022fb21e6" ns3:_="">
    <xsd:import namespace="3b37457d-1d72-413e-888b-ffe254ec3ec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37457d-1d72-413e-888b-ffe254ec3e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C7C3DA5-4DF6-44C1-97D2-EEAAF03F3AD7}">
  <ds:schemaRefs>
    <ds:schemaRef ds:uri="http://purl.org/dc/dcmitype/"/>
    <ds:schemaRef ds:uri="http://purl.org/dc/elements/1.1/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3b37457d-1d72-413e-888b-ffe254ec3ec6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D53EA1F-8C35-4CD8-ACEF-4D438CFCA43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961BC08-6A04-4F9E-B1E1-FD42B9A3F4F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b37457d-1d72-413e-888b-ffe254ec3ec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433</Words>
  <Application>Microsoft Office PowerPoint</Application>
  <PresentationFormat>Widescreen</PresentationFormat>
  <Paragraphs>44</Paragraphs>
  <Slides>10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The Real Experiment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FRANCESCO LAMBERTI</dc:creator>
  <cp:lastModifiedBy>FRANCESCO LAMBERTI</cp:lastModifiedBy>
  <cp:revision>10</cp:revision>
  <dcterms:created xsi:type="dcterms:W3CDTF">2025-02-14T16:40:46Z</dcterms:created>
  <dcterms:modified xsi:type="dcterms:W3CDTF">2025-02-16T14:34:24Z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0x010100BB440429B965724A9EB1CE765460F7AA</vt:lpwstr>
  </property>
</Properties>
</file>